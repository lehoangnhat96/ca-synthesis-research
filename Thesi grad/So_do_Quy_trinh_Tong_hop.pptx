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Sơ đồ Quy trình tổng hợp Fe/N-CA và chế tạo điện cực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29584" y="822960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Cellulose Aerogel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(Vật liệu nền ban đầu)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9584" y="1527048"/>
            <a:ext cx="5120640" cy="50292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Nhiệt phân carbon hóa nền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(800°C / 2h, ramp 5°C/min, N₂)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9584" y="2231136"/>
            <a:ext cx="5120640" cy="50292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Bột carbon nền cho Fe/N-CA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(Độ graphit hóa cao, làm nền dẫn điện)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9584" y="2935224"/>
            <a:ext cx="5120640" cy="68580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Tẩm Fe sau nhiệt phân (Post-impregnation)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FeCl₃·6H₂O trong ethanol, 24h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Sấy 60°C / 12h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3822192"/>
            <a:ext cx="5120640" cy="54864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Rửa acid (Acid leaching)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HCl 0.5 M, 80°C, 8h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Loại Fe tự do / oxide sắt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4572000"/>
            <a:ext cx="5120640" cy="54864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Nung annealing lần 2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(750°C, 1h, khí N₂)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Ổn định các tâm Fe–Nₓ ứng viên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5321808"/>
            <a:ext cx="5120640" cy="50292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Mực biến tính Fe/N-CA/Chitosan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Pha ink: Fe/N-CA + DMF + Chitosan 0.05%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6025896"/>
            <a:ext cx="5120640" cy="54864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Điện cực Fe/N-CA/Chitosan/GCE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Ứng dụng SWASV xác định Pb²⁺, Cd²⁺, Zn²⁺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9904.0" y="1325880"/>
            <a:ext cx="0.0" cy="201168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29584" y="1335024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  <a:latin typeface="Calibri"/>
              </a:defRPr>
            </a:pPr>
            <a:r>
              <a:t>T_target = 800°C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9904.0" y="2029968"/>
            <a:ext cx="0.0" cy="201168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9904.0" y="2734056"/>
            <a:ext cx="0.0" cy="201168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9904.0" y="3621024"/>
            <a:ext cx="0.0" cy="201168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9904.0" y="4370832"/>
            <a:ext cx="0.0" cy="201168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9904.0" y="5120640"/>
            <a:ext cx="0.0" cy="201168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9904.0" y="5824728"/>
            <a:ext cx="0.0" cy="201168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Hình 2.6. Sơ đồ quy trình thực nghiệm chế tạo Cellulose Aerogel từ xơ dừa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29584" y="822960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Bột xơ dừa thô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(Nghiền mịn, rây &lt; 150 µm)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9584" y="1545336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Kiềm hóa NaOH 6%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(80°C, 4h, loại bỏ lignin, hao hụt 30-38%)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9584" y="2267712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Bột xơ dừa kiềm hóa (DCF)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(Rửa nước DI đạt pH 6.5-7.0, sấy 80°C)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9584" y="2990088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Hệ Sol Cellulose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(Sol-gel NH₃/Urea/H₂O, siêu âm bể đá ≤ 10°C, 30')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9584" y="3712464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Gel hóa lạnh (Cryo-gelation)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(Đúc khuôn silicone, cấp đông -20°C/24h)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4434840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Đông tụ &amp; Trao đổi dung môi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(Ethanol 98% 24h, ngâm nước DI 2 lần x 2h)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5157216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Sấy thăng hoa (Freeze-drying)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(Cấp đông -40°C, chân không &lt; 20 Pa, 24-48h)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5879592"/>
            <a:ext cx="5120640" cy="50292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Cellulose Aerogel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(Độ co rút tuyến tính &lt; 12%)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9904.0" y="1325880"/>
            <a:ext cx="0.0" cy="219456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.0" y="2048256"/>
            <a:ext cx="0.0" cy="219456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9904.0" y="2770632"/>
            <a:ext cx="0.0" cy="219456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9904.0" y="3493008"/>
            <a:ext cx="0.0" cy="219456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9904.0" y="4215384"/>
            <a:ext cx="0.0" cy="219456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9904.0" y="4937760"/>
            <a:ext cx="0.0" cy="219456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9904.0" y="5660136"/>
            <a:ext cx="0.0" cy="219456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90304" y="1545336"/>
            <a:ext cx="2011680" cy="502920"/>
          </a:xfrm>
          <a:prstGeom prst="roundRect">
            <a:avLst/>
          </a:prstGeom>
          <a:solidFill>
            <a:srgbClr val="F2F4F4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Dung dịch kiềm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chứa lignin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224" y="1796796.0"/>
            <a:ext cx="640080" cy="0.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Hình 2.7. Sơ đồ quy trình chuyển hóa Cellulose Aerogel thành N-CA và Fe/N-CA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7076" y="822960"/>
            <a:ext cx="4114800" cy="548640"/>
          </a:xfrm>
          <a:prstGeom prst="roundRect">
            <a:avLst/>
          </a:prstGeom>
          <a:solidFill>
            <a:srgbClr val="E6F2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Cellulose Aerogel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(Vật liệu nền ban đầu)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114800" cy="54864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Nhiệt phân carbon hóa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(700°C / 2h, ramp 5°C/min)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383280"/>
            <a:ext cx="4114800" cy="54864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Bột N-CA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(Đa dạng nhóm Pyridinic-N)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4114800" cy="54864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Mực biến tính N-CA/Nafion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(Pha chế Ink: N-CA + DMF + Nafion 0.25%)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54680.0" y="2560320"/>
            <a:ext cx="0.0" cy="82296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54680.0" y="3931920"/>
            <a:ext cx="0.0" cy="82296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9440" y="2011680"/>
            <a:ext cx="4114800" cy="54864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Nhiệt phân carbon hóa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(750°C / 2h, ramp 5°C/min)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743200"/>
            <a:ext cx="4114800" cy="54864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Bột Fe/N-CA nền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(Độ graphit hóa cao)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474720"/>
            <a:ext cx="4114800" cy="59436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Tẩm Sắt (Post-impregnation)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(Tẩm FeCl₃ 0.1M trong Ethanol, 24h, sấy 60°C)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251960"/>
            <a:ext cx="4114800" cy="59436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Rửa Acid (Acid Leaching)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(Hồi lưu HCl 0.5 M ở 80°C trong 8h, loại Fe thô)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5029200"/>
            <a:ext cx="4114800" cy="59436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Nung Annealing lần 2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(750°C, 1h dưới khí trơ N₂, cố định Fe-N₄)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5806440"/>
            <a:ext cx="4114800" cy="59436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Mực biến tính Fe/N-CA/Chitosan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(Fe/N-CA + DMF + Chitosan 0.05%)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.0" y="2560320"/>
            <a:ext cx="0.0" cy="18288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06840.0" y="3291840"/>
            <a:ext cx="0.0" cy="18288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06840.0" y="4069080"/>
            <a:ext cx="0.0" cy="18288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06840.0" y="4846320"/>
            <a:ext cx="0.0" cy="18288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06840.0" y="5623560"/>
            <a:ext cx="0.0" cy="18288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154680.0" y="1371600"/>
            <a:ext cx="1911096.0" cy="64008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23176.0" y="1371600"/>
            <a:ext cx="1883664.0" cy="64008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54480" y="14630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  <a:latin typeface="Calibri"/>
              </a:defRPr>
            </a:pPr>
            <a:r>
              <a:t>T_target = 700°C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  <a:latin typeface="Calibri"/>
              </a:defRPr>
            </a:pPr>
            <a:r>
              <a:t>T_target = 750°C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Hình 2.8. Sơ đồ quy trình chế tạo màng biến tính và đo đạc điện hóa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4114800" cy="7315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Mực biến tính N-CA/Nafion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(Nhánh Paracetamol)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2552" y="1097280"/>
            <a:ext cx="4114800" cy="731520"/>
          </a:xfrm>
          <a:prstGeom prst="roundRect">
            <a:avLst/>
          </a:prstGeom>
          <a:solidFill>
            <a:srgbClr val="FEF5E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Mực biến tính Fe/N-CA/Chitosan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(Nhánh Kim loại nặng)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2377440"/>
            <a:ext cx="6400800" cy="685800"/>
          </a:xfrm>
          <a:prstGeom prst="roundRect">
            <a:avLst/>
          </a:prstGeom>
          <a:solidFill>
            <a:srgbClr val="EAF2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Drop-casting lên GCE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(Nhỏ 5.0 µL mực biến tính, sấy đèn hồng ngoại (IR), 3h)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3611880"/>
            <a:ext cx="6400800" cy="685800"/>
          </a:xfrm>
          <a:prstGeom prst="roundRect">
            <a:avLst/>
          </a:prstGeom>
          <a:solidFill>
            <a:srgbClr val="EAF2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Kiểm tra chất lượng màng (Baseline)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(CV: ΔEp &lt; 120 mV, EIS: Rct giảm ≥ 35%)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4846320"/>
            <a:ext cx="6400800" cy="777240"/>
          </a:xfrm>
          <a:prstGeom prst="roundRect">
            <a:avLst/>
          </a:prstGeom>
          <a:solidFill>
            <a:srgbClr val="EAF2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50" b="1">
                <a:solidFill>
                  <a:srgbClr val="212121"/>
                </a:solidFill>
                <a:latin typeface="Calibri"/>
              </a:defRPr>
            </a:pPr>
            <a:r>
              <a:t>Ứng dụng phân tích cảm biến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(Khử khí N₂ 10 phút trước khi đo)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212121"/>
                </a:solidFill>
                <a:latin typeface="Calibri"/>
              </a:defRPr>
            </a:pPr>
            <a:r>
              <a:t>DPV Paracetamol (pH 7.4) / SWASV Kim loại nặng (pH 4.5)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.0" y="3063240"/>
            <a:ext cx="0.0" cy="54864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9048.0" y="4297680"/>
            <a:ext cx="0.0" cy="54864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9000.0" y="1828800"/>
            <a:ext cx="1069848.0" cy="54864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699248.0" y="1828800"/>
            <a:ext cx="1060704.0" cy="548640"/>
          </a:xfrm>
          <a:prstGeom prst="line">
            <a:avLst/>
          </a:prstGeom>
          <a:ln w="19050">
            <a:solidFill>
              <a:srgbClr val="505A6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